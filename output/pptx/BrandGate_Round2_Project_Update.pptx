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64eb1053b4342" /><Relationship Type="http://schemas.openxmlformats.org/officeDocument/2006/relationships/extended-properties" Target="/docProps/app.xml" Id="Rc1aafd1fe3c7444b" /><Relationship Type="http://schemas.openxmlformats.org/officeDocument/2006/relationships/officeDocument" Target="/ppt/presentation.xml" Id="R1f287b020f5c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c4c3fee3e843f0"/>
  </p:sldMasterIdLst>
  <p:notesMasterIdLst>
    <p:notesMasterId xmlns:r="http://schemas.openxmlformats.org/officeDocument/2006/relationships" r:id="R77b6759994af49c1"/>
  </p:notesMasterIdLst>
  <p:sldIdLst>
    <p:sldId xmlns:r="http://schemas.openxmlformats.org/officeDocument/2006/relationships" id="256" r:id="Rf33afca0d777485d"/>
    <p:sldId xmlns:r="http://schemas.openxmlformats.org/officeDocument/2006/relationships" id="257" r:id="R85e127f48c57433a"/>
    <p:sldId xmlns:r="http://schemas.openxmlformats.org/officeDocument/2006/relationships" id="258" r:id="R44a12a7ba9c14ba4"/>
    <p:sldId xmlns:r="http://schemas.openxmlformats.org/officeDocument/2006/relationships" id="259" r:id="R71f9bd7ca7824391"/>
    <p:sldId xmlns:r="http://schemas.openxmlformats.org/officeDocument/2006/relationships" id="260" r:id="R8b5cc5f92c564458"/>
    <p:sldId xmlns:r="http://schemas.openxmlformats.org/officeDocument/2006/relationships" id="261" r:id="R5806e1e9658e4e67"/>
    <p:sldId xmlns:r="http://schemas.openxmlformats.org/officeDocument/2006/relationships" id="262" r:id="R9278468294e84bf7"/>
    <p:sldId xmlns:r="http://schemas.openxmlformats.org/officeDocument/2006/relationships" id="263" r:id="R446ac699cba943e1"/>
    <p:sldId xmlns:r="http://schemas.openxmlformats.org/officeDocument/2006/relationships" id="264" r:id="Rb022b64f348c4a35"/>
    <p:sldId xmlns:r="http://schemas.openxmlformats.org/officeDocument/2006/relationships" id="265" r:id="R59dab09a177e4a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3cf3ddeb6742d4" /><Relationship Type="http://schemas.openxmlformats.org/officeDocument/2006/relationships/slideMaster" Target="/ppt/slideMasters/slideMaster1.xml" Id="R84c4c3fee3e843f0" /><Relationship Type="http://schemas.openxmlformats.org/officeDocument/2006/relationships/notesMaster" Target="/ppt/notesMasters/notesMaster1.xml" Id="R77b6759994af49c1" /><Relationship Type="http://schemas.openxmlformats.org/officeDocument/2006/relationships/presProps" Target="/ppt/presProps.xml" Id="R584c10fa2f944b01" /><Relationship Type="http://schemas.openxmlformats.org/officeDocument/2006/relationships/tableStyles" Target="/ppt/tableStyles.xml" Id="R1bf62790125448c3" /><Relationship Type="http://schemas.openxmlformats.org/officeDocument/2006/relationships/slide" Target="/ppt/slides/slide1.xml" Id="Rf33afca0d777485d" /><Relationship Type="http://schemas.openxmlformats.org/officeDocument/2006/relationships/slide" Target="/ppt/slides/slide2.xml" Id="R85e127f48c57433a" /><Relationship Type="http://schemas.openxmlformats.org/officeDocument/2006/relationships/slide" Target="/ppt/slides/slide3.xml" Id="R44a12a7ba9c14ba4" /><Relationship Type="http://schemas.openxmlformats.org/officeDocument/2006/relationships/slide" Target="/ppt/slides/slide4.xml" Id="R71f9bd7ca7824391" /><Relationship Type="http://schemas.openxmlformats.org/officeDocument/2006/relationships/slide" Target="/ppt/slides/slide5.xml" Id="R8b5cc5f92c564458" /><Relationship Type="http://schemas.openxmlformats.org/officeDocument/2006/relationships/slide" Target="/ppt/slides/slide6.xml" Id="R5806e1e9658e4e67" /><Relationship Type="http://schemas.openxmlformats.org/officeDocument/2006/relationships/slide" Target="/ppt/slides/slide7.xml" Id="R9278468294e84bf7" /><Relationship Type="http://schemas.openxmlformats.org/officeDocument/2006/relationships/slide" Target="/ppt/slides/slide8.xml" Id="R446ac699cba943e1" /><Relationship Type="http://schemas.openxmlformats.org/officeDocument/2006/relationships/slide" Target="/ppt/slides/slide9.xml" Id="Rb022b64f348c4a35" /><Relationship Type="http://schemas.openxmlformats.org/officeDocument/2006/relationships/slide" Target="/ppt/slides/slide10.xml" Id="R59dab09a177e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f591eeb0ed44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e144693ba14ff4" /><Relationship Type="http://schemas.openxmlformats.org/officeDocument/2006/relationships/notesMaster" Target="/ppt/notesMasters/notesMaster1.xml" Id="R10dc024921b8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a83645009476f" /><Relationship Type="http://schemas.openxmlformats.org/officeDocument/2006/relationships/notesMaster" Target="/ppt/notesMasters/notesMaster1.xml" Id="Ra7bb0f456e2549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9a46b42944129" /><Relationship Type="http://schemas.openxmlformats.org/officeDocument/2006/relationships/notesMaster" Target="/ppt/notesMasters/notesMaster1.xml" Id="R16c6fae21fba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d07936f1c4619" /><Relationship Type="http://schemas.openxmlformats.org/officeDocument/2006/relationships/notesMaster" Target="/ppt/notesMasters/notesMaster1.xml" Id="Reb55b6401b5243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e638d0a58547dc" /><Relationship Type="http://schemas.openxmlformats.org/officeDocument/2006/relationships/notesMaster" Target="/ppt/notesMasters/notesMaster1.xml" Id="R6c6b68c601774d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b810ac4c74f8f" /><Relationship Type="http://schemas.openxmlformats.org/officeDocument/2006/relationships/notesMaster" Target="/ppt/notesMasters/notesMaster1.xml" Id="R670ba6d28ba2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bb34858d447db" /><Relationship Type="http://schemas.openxmlformats.org/officeDocument/2006/relationships/notesMaster" Target="/ppt/notesMasters/notesMaster1.xml" Id="R908260b6c445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fa310a7e34131" /><Relationship Type="http://schemas.openxmlformats.org/officeDocument/2006/relationships/notesMaster" Target="/ppt/notesMasters/notesMaster1.xml" Id="R71f2473e23fe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d4fd30e664481e" /><Relationship Type="http://schemas.openxmlformats.org/officeDocument/2006/relationships/notesMaster" Target="/ppt/notesMasters/notesMaster1.xml" Id="R016af4f93e404a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7990033946424e" /><Relationship Type="http://schemas.openxmlformats.org/officeDocument/2006/relationships/notesMaster" Target="/ppt/notesMasters/notesMaster1.xml" Id="Rb06d55842bab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Team identity is from supplied Round 1 PDF. Replace visible placeholders only after deployment and repository creation.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statements follow supplied Round 1 submission. The examples shown are illustrative, not observed customer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demo supports human accept/edit/dismiss, comments, approval and browser-local audit. Backend state is in-memory.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workspace panel is an illustrative mockup, not a screenshot of the live application. It makes no claim that the application is publicly hosted.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app: Vite browser frontend + FastAPI/Pydantic + in-memory demo repository. Supabase SQL and deployment files are references; there is no live DB or model provider configured.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Ledger-before-LLM order is recorded in docs/ADR-001-pipeline-order.md. Current implementation exposes eight analysis stages; live model stage unavailable. Human review and audit follow as user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Snippets are illustrative fragments from the sample ad. Six sample findings are validated against exact spans and associated with seeded rules or ledger evidence. Human decisions do not auto-apply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Round 1 proposed Next.js, Supabase/RLS and Gemini/Claude provider fallback. Current demo uses simpler local Vite + FastAPI. Ledger-first order retained. Cache/fallback and measured timings added; hosted behavior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per docs/memory.md (2026-10-25): frontend tests 20/20; Playwright 9/9; contrast audit zero failures across Landing/Start/Workspace/Audit in both themes. Local Python 3.13 timing over 20 runs each: cache miss p50 1044.44 ms/p95 1045.22 ms; hit p50 1044.39 ms/p95 1045.17 ms. Intentional per-stage delay dominates, so cache speedup is not demonstrated. Hosted checks/live persistence remain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Round 3 work from docs/submission/ROUND3_IMPROVEMENTS.md and docs/ROUND3_PLAN.md. Replace placeholders after deploying and publishing the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Cipher, supplied “BrandGate Round1 Team Cipher.pdf” (Round 1 submission), pp. 1–14. Current implementation details: docs/submission/COMPLETED_FEATURES.md, TECH_AND_IMPLEMENTATION.md, CHANGES_FROM_ROUND1.md, ROUND3_IMPROVEMENTS.md; README.md and TASKS.md. Public app and repository URLs remain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b1083ef0c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41b207ab944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4ffc324e742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7314093984c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316fe667d4e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b19b579b245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C39D23-FD26-4F7F-B953-008972366D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8196F5-6E47-435D-A0FF-28AD8A4E2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FE5022-50CB-47A8-9D45-657D32CDC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2ADE5-1099-4938-9A35-F909C25B6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1799D2-0E75-43E8-BB9E-9B12DF3E7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786FB4-FBC8-4BDA-A00E-9CC60974A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46494F-934F-4C40-86B8-D5AB9991EA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3AF9E3-0217-4C82-AB02-F78D8A28D8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DB73A-FF67-4E8A-9E1E-9F15CF4A28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91283C-F9BC-4849-AE38-29ACBECCD6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74efb33384642" /><Relationship Type="http://schemas.openxmlformats.org/officeDocument/2006/relationships/slideLayout" Target="/ppt/slideLayouts/slideLayout1.xml" Id="R8062d5cfd22146eb" /><Relationship Type="http://schemas.openxmlformats.org/officeDocument/2006/relationships/slideLayout" Target="/ppt/slideLayouts/slideLayout2.xml" Id="R4e6a9f46c6754c12" /><Relationship Type="http://schemas.openxmlformats.org/officeDocument/2006/relationships/slideLayout" Target="/ppt/slideLayouts/slideLayout3.xml" Id="Rcdcc9b4b28754406" /><Relationship Type="http://schemas.openxmlformats.org/officeDocument/2006/relationships/slideLayout" Target="/ppt/slideLayouts/slideLayout4.xml" Id="Rf3f4b028bad64c4f" /><Relationship Type="http://schemas.openxmlformats.org/officeDocument/2006/relationships/slideLayout" Target="/ppt/slideLayouts/slideLayout5.xml" Id="Rf9b1512cd38348cd" /><Relationship Type="http://schemas.openxmlformats.org/officeDocument/2006/relationships/slideLayout" Target="/ppt/slideLayouts/slideLayout6.xml" Id="Rdd0514c1cb29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2d5cfd22146eb"/>
    <p:sldLayoutId xmlns:r="http://schemas.openxmlformats.org/officeDocument/2006/relationships" id="2147483650" r:id="R4e6a9f46c6754c12"/>
    <p:sldLayoutId xmlns:r="http://schemas.openxmlformats.org/officeDocument/2006/relationships" id="2147483651" r:id="Rcdcc9b4b28754406"/>
    <p:sldLayoutId xmlns:r="http://schemas.openxmlformats.org/officeDocument/2006/relationships" id="2147483652" r:id="Rf3f4b028bad64c4f"/>
    <p:sldLayoutId xmlns:r="http://schemas.openxmlformats.org/officeDocument/2006/relationships" id="2147483653" r:id="Rf9b1512cd38348cd"/>
    <p:sldLayoutId xmlns:r="http://schemas.openxmlformats.org/officeDocument/2006/relationships" id="2147483654" r:id="Rdd0514c1cb29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70228fac14800" /><Relationship Type="http://schemas.openxmlformats.org/officeDocument/2006/relationships/notesSlide" Target="/ppt/notesSlides/notesSlide1.xml" Id="Rbd29bd6f9de8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a4d9ee08a41e1" /><Relationship Type="http://schemas.openxmlformats.org/officeDocument/2006/relationships/notesSlide" Target="/ppt/notesSlides/notesSlide2.xml" Id="R1459367ec61443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6469b223e48f9" /><Relationship Type="http://schemas.openxmlformats.org/officeDocument/2006/relationships/notesSlide" Target="/ppt/notesSlides/notesSlide3.xml" Id="R51eeaee33e46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10b50a4c24dc2" /><Relationship Type="http://schemas.openxmlformats.org/officeDocument/2006/relationships/notesSlide" Target="/ppt/notesSlides/notesSlide4.xml" Id="R7c616aa2ce9d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9cd6381ee4056" /><Relationship Type="http://schemas.openxmlformats.org/officeDocument/2006/relationships/notesSlide" Target="/ppt/notesSlides/notesSlide5.xml" Id="R3a36ed424581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9b1adeb7040b2" /><Relationship Type="http://schemas.openxmlformats.org/officeDocument/2006/relationships/notesSlide" Target="/ppt/notesSlides/notesSlide6.xml" Id="Rf499a8eca330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c8734cd0d4917" /><Relationship Type="http://schemas.openxmlformats.org/officeDocument/2006/relationships/notesSlide" Target="/ppt/notesSlides/notesSlide7.xml" Id="Ra2a100d9d07d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93e333d6b4001" /><Relationship Type="http://schemas.openxmlformats.org/officeDocument/2006/relationships/notesSlide" Target="/ppt/notesSlides/notesSlide8.xml" Id="R9f048262428741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add3fa8cd405d" /><Relationship Type="http://schemas.openxmlformats.org/officeDocument/2006/relationships/notesSlide" Target="/ppt/notesSlides/notesSlide9.xml" Id="Rcfd708c1a02349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b86a695ee493c" /><Relationship Type="http://schemas.openxmlformats.org/officeDocument/2006/relationships/notesSlide" Target="/ppt/notesSlides/notesSlide10.xml" Id="R367c1701d433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FAF42-4AC2-4B25-8CFC-269BB9BE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638800"/>
          </a:xfrm>
          <a:prstGeom xmlns:a="http://schemas.openxmlformats.org/drawingml/2006/main" prst="roundRect">
            <a:avLst>
              <a:gd name="adj" fmla="val 5068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1525-D16E-4127-9AB1-C22A300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TEAM CIPHER  /  ROUND 2 PROJECT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067F6-11FE-41AC-9310-EDAB2187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8115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>
            <a:def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BrandGate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2B5D6-6764-460E-8D31-C5C7B3B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Brand compliance, with human review at the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D2633-1B98-4B8E-80C8-DF63890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7FBB2-28ED-45F4-81EF-6D6F85C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09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From ad copy to grounded findings, reviewed decisions, and an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CD793-CF85-4AAE-AA50-2579AC0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32861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2F20"/>
          </a:solidFill>
          <a:ln xmlns:a="http://schemas.openxmlformats.org/drawingml/2006/main" w="9525">
            <a:solidFill>
              <a:srgbClr val="382F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8226A-6A3C-47CC-B505-97D00C81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720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C77D"/>
                </a:solidFill>
                <a:latin typeface="Arial"/>
                <a:ea typeface="Arial"/>
                <a:cs typeface="Arial"/>
              </a:rPr>
              <a:t>LIVE PROJECT LINK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CFD67-D302-49AD-9CB4-33B25F48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815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[[PUBLIC_APP_URL]]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54FB0-7F70-47BB-880B-E3F0DB61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Repository: [[GITHUB_REPOSITORY_URL]]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81311-0315-4741-80F2-5CBB59B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Harshika Thopte  ·  Ishan Sonawane</a:t>
            </a:r>
          </a:p>
        </p:txBody>
      </p:sp>
    </p:spTree>
    <p:extLst>
      <p:ext uri="{BB962C8B-B14F-4D97-AF65-F5344CB8AC3E}">
        <p14:creationId xmlns:p14="http://schemas.microsoft.com/office/powerpoint/2010/main" val="904549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2AAB4-CF1E-4D7D-8B4D-884C315B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2F27E-D5CF-4680-BDC8-659912D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Marketing claims need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A4ACC-509E-4D0B-97C1-0AD30C0D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56D32-F916-440B-9E51-CB72A2F2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76449-BC54-4B98-83B6-CBE062A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76792-579F-43AF-B400-5C21AA3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5CFC-AAFE-4197-BFBE-63338BA8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A confident line can still be wrong, expired, or off-brand.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6D756-F7B5-43FC-8E16-14AEADA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3718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957F-AFF5-4359-82C2-65E24DB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D8BF0-0795-4D37-912C-28C6EBD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Claim not registered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BDC5B-388F-4832-B606-3E254379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A strong claim needs an approved source.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FD3EF-0D3E-44D4-B768-84CCA947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3718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DBC26-6CA4-4E25-BA7D-B722D63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34E32-3141-472B-B2D6-C2766BF4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Offer is out of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1845-5D3E-4FB5-9721-34E55B79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Validity dates change; copy can lag.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CD7AF-86F4-4BD1-949C-83C883D1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37185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596BA-4621-4AD3-93F9-972F85F0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62103-F55D-4A14-9280-7FD39F4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Tone breaks the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28116-412E-41F4-8B86-F6B9D0E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Small wording choices can change brand fit.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6F11A-AE5F-4066-BC04-EB3563C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Illustrative examples; the demo data is fictional.</a:t>
            </a:r>
          </a:p>
        </p:txBody>
      </p:sp>
    </p:spTree>
    <p:extLst>
      <p:ext uri="{BB962C8B-B14F-4D97-AF65-F5344CB8AC3E}">
        <p14:creationId xmlns:p14="http://schemas.microsoft.com/office/powerpoint/2010/main" val="547769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89185-990B-4DC3-AB16-57A42C4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F68B-4B5B-4466-B697-CEDEFAB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A short path from draft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B3FC0-92E7-4E70-8EDF-34B286C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C5D5C-F7DD-4644-8320-4A71C959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998DA-4019-4FC7-89B2-ED70702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CORE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EE7E-058D-4DA1-AED6-BD54A1E7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B650-6D16-4A43-95D0-50FC3111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5050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A162C-3D7D-481E-BBEA-592C4A6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57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3121F-9750-4797-BB99-A93F95E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178C0-2F29-4C2F-8C92-56829FD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8BBA3-473C-4552-807D-06A99589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Paste ad 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63B9E-BEF7-4C49-83FB-DE89F8A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A911D-5B32-440E-8CC5-D0B563D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25050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A6DD7-AD1C-4F86-8827-01D4A86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76550"/>
            <a:ext cx="457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79AF4-7BC7-4C33-BC8D-3AA150A2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AB302-9FC0-4482-9523-955C804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48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08C00-E744-401F-A8F9-A3AF215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00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Run deterministic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A4880-C8AA-4602-8BED-3DCCD19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671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D8AA0-E99E-4135-A6B3-CAC95C8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5050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D1FAE-F755-44AA-AD85-B48A867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457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8395A-FE32-4E1D-8184-AEEB618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482BF-0F0C-4CCE-8797-34FE178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8A492-FD38-453A-8021-C92CEC1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Inspect spans and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05384-F3A9-49F2-B7AE-6D42099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AE999-4E9C-4807-8CEB-18AABD9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47950"/>
            <a:ext cx="2505075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6B0B85-8262-4131-A216-47B22296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76550"/>
            <a:ext cx="457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FC5A3-1BC0-4257-9660-A741B42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860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18868-44AA-4210-8E8F-BABE4EF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48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D3DEB-922B-429C-A2DF-7F6115E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Resolve findings; audit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E44332-C028-4EB4-987E-368CA89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Human reviewers choose Accept, Edit, or Dismiss. Nothing is auto-applied.</a:t>
            </a:r>
          </a:p>
        </p:txBody>
      </p:sp>
    </p:spTree>
    <p:extLst>
      <p:ext uri="{BB962C8B-B14F-4D97-AF65-F5344CB8AC3E}">
        <p14:creationId xmlns:p14="http://schemas.microsoft.com/office/powerpoint/2010/main" val="1480653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5F8B69-1F8E-46CD-98C4-0BB6CA2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B6A29-CFF7-4BBF-A7B1-EE9223C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The current product is a working local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733EF-C588-467D-A3C1-FAA39CF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8D6F-1563-4BEC-82AE-13F18EE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0A966-7461-4869-B78F-777E14EE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50AE-F4B5-4AE2-BA70-4F56EAE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9FC6C-8976-4326-A935-A0AB64D8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Landing → sample ad → review workspace →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68772-1E5A-45D9-932A-C508B3CE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162800" cy="3600450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8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CB6C1-9BDC-4DFD-9E9A-1F49027E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7010400" cy="344805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6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0DB41-D4EE-4F1A-96E0-680DE0C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70104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E9E3D8"/>
          </a:solidFill>
          <a:ln xmlns:a="http://schemas.openxmlformats.org/drawingml/2006/main" w="9525">
            <a:solidFill>
              <a:srgbClr val="E9E3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1DB5B-98E2-4FB8-8AE2-45C3E9F9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92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820"/>
                </a:solidFill>
                <a:latin typeface="Arial"/>
                <a:ea typeface="Arial"/>
                <a:cs typeface="Arial"/>
              </a:rPr>
              <a:t>BrandGate   /   Review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64DD1-997A-4479-8118-0A7E9C44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066800" cy="27813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E9DF"/>
          </a:solidFill>
          <a:ln xmlns:a="http://schemas.openxmlformats.org/drawingml/2006/main" w="9525">
            <a:solidFill>
              <a:srgbClr val="E0D9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ACB9D-343C-40F4-B1F4-A00D23C5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E5A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5A50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286C4-8017-460C-9751-814E026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120"/>
          </a:bodyPr>
          <a:lstStyle xmlns:a="http://schemas.openxmlformats.org/drawingml/2006/main">
            <a:def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633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6332D"/>
                </a:solidFill>
                <a:latin typeface="Arial"/>
                <a:ea typeface="Arial"/>
                <a:cs typeface="Arial"/>
              </a:rPr>
              <a:t>Launch 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27A5F-8BC0-451F-8178-44D83F9C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961"/>
          </a:bodyPr>
          <a:lstStyle xmlns:a="http://schemas.openxmlformats.org/drawingml/2006/main">
            <a:def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6332D"/>
                </a:solidFill>
                <a:latin typeface="Arial"/>
                <a:ea typeface="Arial"/>
                <a:cs typeface="Arial"/>
              </a:rPr>
              <a:t>Summer 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02C7C-13B0-4852-8EBF-1743250C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61"/>
          </a:bodyPr>
          <a:lstStyle xmlns:a="http://schemas.openxmlformats.org/drawingml/2006/main">
            <a:def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63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6332D"/>
                </a:solidFill>
                <a:latin typeface="Arial"/>
                <a:ea typeface="Arial"/>
                <a:cs typeface="Arial"/>
              </a:rPr>
              <a:t>Social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4A422-EA5C-4938-8743-B48E2EF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32766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FB3E1-E4FE-4F46-B633-A05F2380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57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827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2720"/>
                </a:solidFill>
                <a:latin typeface="Arial"/>
                <a:ea typeface="Arial"/>
                <a:cs typeface="Arial"/>
              </a:rPr>
              <a:t>Ad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6CB59-7617-42AB-A4B7-29C9FB57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14700"/>
            <a:ext cx="2895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12B"/>
                </a:solidFill>
                <a:latin typeface="Arial"/>
                <a:ea typeface="Arial"/>
                <a:cs typeface="Arial"/>
              </a:rPr>
              <a:t>Meet the #1 best product. Guaranteed results for every team.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67DDB6-00C1-4112-BC93-AC78B04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3390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FDA"/>
          </a:solidFill>
          <a:ln xmlns:a="http://schemas.openxmlformats.org/drawingml/2006/main" w="9525">
            <a:solidFill>
              <a:srgbClr val="F5DF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3E268-3BAA-45BC-8FDB-7C821746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434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332B"/>
                </a:solidFill>
                <a:latin typeface="Arial"/>
                <a:ea typeface="Arial"/>
                <a:cs typeface="Arial"/>
              </a:rPr>
              <a:t>HIGH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DD21A-F1D0-441F-8482-EAB189C6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530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14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C43"/>
                </a:solidFill>
                <a:latin typeface="Arial"/>
                <a:ea typeface="Arial"/>
                <a:cs typeface="Arial"/>
              </a:rPr>
              <a:t>Claim needs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47358-8F96-4124-8402-F801CEB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21336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8E9D8-5D4D-415D-A8E5-D355CAD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9B3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332B"/>
                </a:solidFill>
                <a:latin typeface="Arial"/>
                <a:ea typeface="Arial"/>
                <a:cs typeface="Arial"/>
              </a:rPr>
              <a:t>FACT   ▲ 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CFC48-1099-428D-9933-87447523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12B"/>
                </a:solidFill>
                <a:latin typeface="Arial"/>
                <a:ea typeface="Arial"/>
                <a:cs typeface="Arial"/>
              </a:rPr>
              <a:t>#1 best 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8D2F9-BEAB-468D-9290-1B9DDC0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91000"/>
            <a:ext cx="21336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7287F-B567-4575-8F05-D15D8A62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A5C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5C18"/>
                </a:solidFill>
                <a:latin typeface="Arial"/>
                <a:ea typeface="Arial"/>
                <a:cs typeface="Arial"/>
              </a:rPr>
              <a:t>FACT · 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1930B-77E6-4DEE-A49D-01435FF7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053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48"/>
          </a:bodyPr>
          <a:lstStyle xmlns:a="http://schemas.openxmlformats.org/drawingml/2006/main">
            <a:def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43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12B"/>
                </a:solidFill>
                <a:latin typeface="Arial"/>
                <a:ea typeface="Arial"/>
                <a:cs typeface="Arial"/>
              </a:rPr>
              <a:t>Guaranteed 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5CA01-FCDC-4B63-A789-6C6BAE5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276600" cy="360045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34D6A-0202-4B12-9D25-6A052E9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Included now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E0C00-A60A-41A9-98B6-C6E6136F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32039-F0D3-467F-A516-3DA9F121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52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Role switcher for the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7C60C-431D-42ED-8A9B-94D4A822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A827E-9BC3-4848-A43B-1D72530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Sample: six findings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6B5E6-77F7-4F9C-BA2C-FC1175FD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C4938-9C17-4CA2-87D9-A9F2ED18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02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Source-linked review controls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8F2DD3-CE81-469F-AEF0-B474B55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FCFD10-1F45-4D6E-A4B5-082009E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0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Brand Hub + Privacy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AFD5C4-6ED6-4EBD-94D8-46CF5C57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Illustrative workspace mockup; this is a local prototype, not a hosted app.</a:t>
            </a:r>
          </a:p>
        </p:txBody>
      </p:sp>
    </p:spTree>
    <p:extLst>
      <p:ext uri="{BB962C8B-B14F-4D97-AF65-F5344CB8AC3E}">
        <p14:creationId xmlns:p14="http://schemas.microsoft.com/office/powerpoint/2010/main" val="1377937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B85AA-1E42-43E6-A6CB-EB436E17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0A876-F81C-4E2C-9588-0C23937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A small, inspectable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5A49-22DE-40A8-945C-C36A9541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2535-8FD3-4F31-83FB-48DEA94C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4EA07-6296-49A2-B9EA-6FB805B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1EED0-5A69-42DF-9B1D-BD096F2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867C8-AB39-4D48-BEB0-EEEB09BA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D74B8-BA2F-4ED7-ADC7-129845A8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0F31D-0DC3-4865-BECC-7C2BE88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Vite +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0E7CD-6EB3-4000-9365-272CAF01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027BA-A675-452D-AE4A-29892B6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574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BB8D4-BBC4-4FB6-ACA0-E327C43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05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E7F8F-B4C1-43BA-8989-B674DD0D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FastAPI + Pydantic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9867F-D060-4133-BAD2-81F85E1F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146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09602-8046-4E28-B67F-E9702AF4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143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CE108-4DCF-422D-806D-31B38A2A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Demo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10139-090D-40F3-A5BC-BEAE8A45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In-memory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F9CB2-7E1F-4C4B-820D-90C85C0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629900" cy="12858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12D"/>
          </a:solidFill>
          <a:ln xmlns:a="http://schemas.openxmlformats.org/drawingml/2006/main" w="9525">
            <a:solidFill>
              <a:srgbClr val="3E4B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B9CA4-F29B-4992-BF7A-0F87E377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1C77D"/>
                </a:solidFill>
                <a:latin typeface="Arial"/>
                <a:ea typeface="Arial"/>
                <a:cs typeface="Arial"/>
              </a:rPr>
              <a:t>Not connected in this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F34FE-2BE1-45AF-AD4B-28AC114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Supabase / RLS  ·  Gemini or Claude  ·  public hosting</a:t>
            </a:r>
          </a:p>
        </p:txBody>
      </p:sp>
    </p:spTree>
    <p:extLst>
      <p:ext uri="{BB962C8B-B14F-4D97-AF65-F5344CB8AC3E}">
        <p14:creationId xmlns:p14="http://schemas.microsoft.com/office/powerpoint/2010/main" val="482546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18460-1CE6-472A-BC1B-94CD55C3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F86C5-585C-41A4-A0AF-C72BF287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Grounding is checked before a person decides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39F68-857B-46BA-AB9C-4A5F6C2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F5C7A-AB5F-49CB-BF61-056478E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F12A9-5D61-4C3D-ABF7-F94F80DA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ANALYSIS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2CA57-1972-493A-A41C-9EC2933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9B6C1-CBEE-4DB9-8120-6E4805D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629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43F16-00C3-4590-BDEF-E06DFC3E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704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93CE6-7C57-43F3-BC8C-28CF98C6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1–3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0BB17-7927-4820-91A4-9B1BA2D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717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Ingest · sanitize · deterministic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4B49B-B0FE-4FFE-BEAE-B97F300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629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82D29-2F8D-4EE4-84F0-275C9E2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04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AACD0-0955-4E1C-81A1-3CCF4C6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4–5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4C8E1-27CF-4CA0-9C1E-3D8C1AF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766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Retrieve rules · match Facts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32000-C0D2-4D93-B589-99EF7815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6299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270BD-3E81-42B5-98E7-47337031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704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C02E5-8CD3-4985-B2EC-63C13D4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672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6–8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61BF1-0F49-4DD9-89C5-5307972B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Optional model · validate source/span · merge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C31F4-AE03-4C32-8A10-46F572CC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9  Human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3EC2C-7B44-4B0E-A9BC-FECC571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29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10  Append-only demo audit</a:t>
            </a:r>
          </a:p>
        </p:txBody>
      </p:sp>
    </p:spTree>
    <p:extLst>
      <p:ext uri="{BB962C8B-B14F-4D97-AF65-F5344CB8AC3E}">
        <p14:creationId xmlns:p14="http://schemas.microsoft.com/office/powerpoint/2010/main" val="306027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517A4-8423-43FE-8A23-14CEAC00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7675-CC13-423B-A5AB-1542FBB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22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Findings are evidence-linked; decisions stay human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78491-18B4-4D85-A446-3E2312FD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BD067-3C92-4E5D-BFAF-B33113DA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785AF-5048-43ED-BBE1-0DC3B722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REVIEW &amp;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E2413-907E-47ED-BD93-C018D53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3EA5-080A-4CE8-99BF-39236A8D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91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4853F-D55C-4CCD-B71F-3FEDB4E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67221-B921-4212-B880-B709613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0D2F1-6691-4841-AC2D-104A8C2B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4790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A27"/>
          </a:solidFill>
          <a:ln xmlns:a="http://schemas.openxmlformats.org/drawingml/2006/main" w="9525">
            <a:solidFill>
              <a:srgbClr val="302A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80972-334D-4A22-B268-28AFA0A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574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9A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A9A"/>
                </a:solidFill>
                <a:latin typeface="Arial"/>
                <a:ea typeface="Arial"/>
                <a:cs typeface="Arial"/>
              </a:rPr>
              <a:t>▲ 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5C53A-34A3-4AEA-8BE9-0C5E3A0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76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Rule match 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A011A-0439-4269-8686-E46A209F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“#1 best product”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55A9D-00EB-421B-805A-9FB00265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991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9A3C-4FA1-4DB4-AD2D-2FADBB6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EAAE1-8440-495F-89B3-338FB50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E3230-2D7C-4C80-98A8-793D59A9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A27"/>
          </a:solidFill>
          <a:ln xmlns:a="http://schemas.openxmlformats.org/drawingml/2006/main" w="9525">
            <a:solidFill>
              <a:srgbClr val="302A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2BF32-FA53-4208-A739-F91255D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813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C77D"/>
                </a:solidFill>
                <a:latin typeface="Arial"/>
                <a:ea typeface="Arial"/>
                <a:cs typeface="Arial"/>
              </a:rPr>
              <a:t>▲ 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3D38D-D4F0-47F0-B4CB-9C81BABA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04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Ledger match 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813E9-5B90-449E-A5E9-759AF492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“10k users”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81AC7-3BE9-4B12-85B7-E5DC7E2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9913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E85E1-BF48-4186-8B47-BE0B9AA4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87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B3D"/>
          </a:solidFill>
          <a:ln xmlns:a="http://schemas.openxmlformats.org/drawingml/2006/main" w="9525">
            <a:solidFill>
              <a:srgbClr val="1D2B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652D7-9A5E-47A9-AA59-D8C1908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053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TONE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F7D0E-CC1E-4B52-9529-3154CE5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9580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A27"/>
          </a:solidFill>
          <a:ln xmlns:a="http://schemas.openxmlformats.org/drawingml/2006/main" w="9525">
            <a:solidFill>
              <a:srgbClr val="302A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403AC-4792-46A2-82F3-9E45A52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0532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C77D"/>
                </a:solidFill>
                <a:latin typeface="Arial"/>
                <a:ea typeface="Arial"/>
                <a:cs typeface="Arial"/>
              </a:rPr>
              <a:t>▼ 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1571D-5373-44C1-9CEB-324047C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243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7E2CA"/>
                </a:solidFill>
                <a:latin typeface="Arial"/>
                <a:ea typeface="Arial"/>
                <a:cs typeface="Arial"/>
              </a:rPr>
              <a:t>Rule match 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653B0-2570-431B-BE96-4DA6FE39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“guaranteed results”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8E48A-B72B-4F08-B5EB-283B187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2004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E9E72-699B-460D-9B80-0AEF60D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Reviewer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5512A-8171-471D-A265-444C27F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1.  Accept a finding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403BB-FD85-471E-9F4C-9AF6A85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2.  Edit a suggestion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512BE3-F252-42C5-88B6-E6A10E27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3.  Dismiss with reason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A0789-7D33-4D6E-AEC7-A0191FDB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4.  Approve after resolution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E92844-E7C4-4341-AF57-E3BA5D6F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Six exact-span sample findings are bundled for the planted ad.</a:t>
            </a:r>
          </a:p>
        </p:txBody>
      </p:sp>
    </p:spTree>
    <p:extLst>
      <p:ext uri="{BB962C8B-B14F-4D97-AF65-F5344CB8AC3E}">
        <p14:creationId xmlns:p14="http://schemas.microsoft.com/office/powerpoint/2010/main" val="204718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96270-DDFE-4397-B305-054B318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AE916-B053-4FC7-9AC1-B22604B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What changed from the Round 1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C0BFA-6D3C-433A-AE70-62CDFA0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43A7A-FE7C-4A24-9195-F4DD293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0CF29-222D-469A-9020-1B5E07C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ROUND 1 → ROUND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A881-6E52-48D1-B25E-E4A99FE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B491-6850-48A9-8EB8-FDCC101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Kept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80757-6EFF-4CB9-B053-AFD38B3D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240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64"/>
          </a:solidFill>
          <a:ln xmlns:a="http://schemas.openxmlformats.org/drawingml/2006/main" w="0">
            <a:solidFill>
              <a:srgbClr val="41506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36304-6154-4B4D-9EAA-4137205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050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Ledger-before-LLM order; source and exact-span grounding.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CB515-BD0F-4F66-AFD7-B9A6F147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Added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EB18D-BC7C-43AA-AFB1-10EE910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64"/>
          </a:solidFill>
          <a:ln xmlns:a="http://schemas.openxmlformats.org/drawingml/2006/main" w="0">
            <a:solidFill>
              <a:srgbClr val="41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EAB9A-E699-452C-BBD3-55DB6309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Saved sample fallback, local cache, measured stage metadata, and review audit UX.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CF25F-8881-4120-944B-0BEDF55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Simplified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06225-F077-4CCE-BFE5-04658AEC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64"/>
          </a:solidFill>
          <a:ln xmlns:a="http://schemas.openxmlformats.org/drawingml/2006/main" w="0">
            <a:solidFill>
              <a:srgbClr val="4150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BA9B2-5BE9-4379-B082-6425A40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Round 2 runs Vite + FastAPI with in-memory demo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D2BD3-9C0B-48B7-B091-641A256C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C77D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FBA2D-789D-4460-8FB8-F132EDB2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9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64"/>
          </a:solidFill>
          <a:ln xmlns:a="http://schemas.openxmlformats.org/drawingml/2006/main" w="0">
            <a:solidFill>
              <a:srgbClr val="41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9DEFF-F3A4-4957-953B-A2B760C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96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6F8FB"/>
                </a:solidFill>
                <a:latin typeface="Arial"/>
                <a:ea typeface="Arial"/>
                <a:cs typeface="Arial"/>
              </a:rPr>
              <a:t>Hosted deployment, live Supabase/RLS, authenticated roles, and live LLM calls.</a:t>
            </a:r>
          </a:p>
        </p:txBody>
      </p:sp>
    </p:spTree>
    <p:extLst>
      <p:ext uri="{BB962C8B-B14F-4D97-AF65-F5344CB8AC3E}">
        <p14:creationId xmlns:p14="http://schemas.microsoft.com/office/powerpoint/2010/main" val="1558195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7D81C-0458-44D2-A2FD-B1A97B0B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CB640-9CB3-400D-8612-252E524C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07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Verification is local; production remains unverified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3B9E5-68DE-4603-A950-C0E4033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7C5E1-85F1-4BE3-9DA5-0293ACC3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35400-D33E-424F-BA35-0526A27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TESTS &amp;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FED71-FD00-4334-80F2-EACA96B0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28C46-9C2E-493A-A678-DED6E626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482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31ABB-E3BD-4997-9B4F-6F80F09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Verified locally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33956-89F1-48B2-ABF1-055B39A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E2CA"/>
                </a:solidFill>
                <a:latin typeface="Arial"/>
                <a:ea typeface="Arial"/>
                <a:cs typeface="Arial"/>
              </a:rPr>
              <a:t>✓  Frontend unit tests: 20 /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6A15E-14C2-4752-BD29-CA5B4617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E2CA"/>
                </a:solidFill>
                <a:latin typeface="Arial"/>
                <a:ea typeface="Arial"/>
                <a:cs typeface="Arial"/>
              </a:rPr>
              <a:t>✓  Playwright flow: 9 /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CE171-F11A-42FC-979F-9D7EF58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E2CA"/>
                </a:solidFill>
                <a:latin typeface="Arial"/>
                <a:ea typeface="Arial"/>
                <a:cs typeface="Arial"/>
              </a:rPr>
              <a:t>✓  Contrast audit: 0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3E730-1B4E-4DFB-B6D8-390FC9F6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7E2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E2CA"/>
                </a:solidFill>
                <a:latin typeface="Arial"/>
                <a:ea typeface="Arial"/>
                <a:cs typeface="Arial"/>
              </a:rPr>
              <a:t>✓  Landing, Start, Review,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562D2-EE2D-4CED-8CF0-DF5451E6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2578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9525">
            <a:solidFill>
              <a:srgbClr val="3340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9548A-2E59-438D-A53F-680432EC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Still 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B5935-0F38-4133-B51C-D68E2AE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1C77D"/>
                </a:solidFill>
                <a:latin typeface="Arial"/>
                <a:ea typeface="Arial"/>
                <a:cs typeface="Arial"/>
              </a:rPr>
              <a:t>•  Public app URL and cold-start smoke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9FBF6-86AD-4C0C-A0F5-7D4F8240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1C77D"/>
                </a:solidFill>
                <a:latin typeface="Arial"/>
                <a:ea typeface="Arial"/>
                <a:cs typeface="Arial"/>
              </a:rPr>
              <a:t>•  Persistent database and RLS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45D91-8958-4D58-B667-1FBD144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1C77D"/>
                </a:solidFill>
                <a:latin typeface="Arial"/>
                <a:ea typeface="Arial"/>
                <a:cs typeface="Arial"/>
              </a:rPr>
              <a:t>•  Live model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D2DBC-6E9E-444A-871D-86B33C98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1C7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1C77D"/>
                </a:solidFill>
                <a:latin typeface="Arial"/>
                <a:ea typeface="Arial"/>
                <a:cs typeface="Arial"/>
              </a:rPr>
              <a:t>•  Production performance measurements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D3ED5-458A-409F-9309-0F51A48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16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Local API timing: sample cache miss p50 1,044 ms; hit p50 1,044 ms. Fixed demo delay dominates; no speedup observed.</a:t>
            </a:r>
          </a:p>
        </p:txBody>
      </p:sp>
    </p:spTree>
    <p:extLst>
      <p:ext uri="{BB962C8B-B14F-4D97-AF65-F5344CB8AC3E}">
        <p14:creationId xmlns:p14="http://schemas.microsoft.com/office/powerpoint/2010/main" val="800615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3B480-CDA6-4552-8A3A-1230C568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04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BRANDGATE  /  ROUND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DD659-63CD-4FD9-BCAF-133C528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Round 3: three substantial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4450-5E69-46FD-B8A7-0F465652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3222-BFBB-4FEA-A228-896A28EE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TEAM CIPHER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A7CB5-1321-497D-9F04-71433AE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0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NEXT 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08C10-1B99-41F2-882E-0FA2CE1E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7A5B8-C929-4897-8BBF-D9DD103F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E0643-404A-4B83-84E9-17BB590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Facts Ledger expiry alerts + CSV/PDF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DE8A3-B5F7-4E00-A358-ABA9FE8D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Validate evidence; require approval before publishing.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ABBCC-9205-4628-9C4E-37925D4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1D2D-04E0-4897-8EED-A66D830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Guideline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E301D-853B-4D34-9E66-5DF4CA96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Use reviewed dismissal reasons to flag unclear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9304F-F0C6-4EF1-9BC4-43B8C559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B64B5-4EA4-465E-9780-2A6E4473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6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6F8FB"/>
                </a:solidFill>
                <a:latin typeface="Arial"/>
                <a:ea typeface="Arial"/>
                <a:cs typeface="Arial"/>
              </a:rPr>
              <a:t>Evaluation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6E921-158E-4986-8903-0B9AFE8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CD8"/>
                </a:solidFill>
                <a:latin typeface="Arial"/>
                <a:ea typeface="Arial"/>
                <a:cs typeface="Arial"/>
              </a:rPr>
              <a:t>Version labelled cases; report per-rule metrics and regressions.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E286D-DF2F-4025-8FDB-851CB14E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1"/>
          </a:solidFill>
          <a:ln xmlns:a="http://schemas.openxmlformats.org/drawingml/2006/main" w="0">
            <a:solidFill>
              <a:srgbClr val="3440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A22FA-EEDB-4792-A79C-904B457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Working project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3A705-FCD7-49EE-834B-08D5F94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81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[[PUBLIC_APP_URL]]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BDB72-24FE-422D-B74F-FF2239A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3CC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3CCD8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B060A-E55B-49FB-A853-07DC034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62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5AA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AAFF"/>
                </a:solidFill>
                <a:latin typeface="Arial"/>
                <a:ea typeface="Arial"/>
                <a:cs typeface="Arial"/>
              </a:rPr>
              <a:t>[[GITHUB_REPOSITORY_URL]]</a:t>
            </a:r>
          </a:p>
        </p:txBody>
      </p:sp>
    </p:spTree>
    <p:extLst>
      <p:ext uri="{BB962C8B-B14F-4D97-AF65-F5344CB8AC3E}">
        <p14:creationId xmlns:p14="http://schemas.microsoft.com/office/powerpoint/2010/main" val="1464456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2026-10-24T23:15:31.9460000Z</dcterms:created>
  <dcterms:modified xsi:type="dcterms:W3CDTF">2026-10-24T23:15:31.9460000Z</dcterms:modified>
</coreProperties>
</file>